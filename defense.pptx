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40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面向多模态理解任务的 ViT 自适应 Token 裁剪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FFFFF"/>
                </a:solidFill>
                <a:latin typeface="Arial"/>
              </a:rPr>
              <a:t>本科毕业答辩
姓名：戚子祥  学号：19301020017
计算与智能创新学院  计算机科学与技术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Arial"/>
              </a:rPr>
              <a:t>导师：陈智能  教授  |  复旦大学  |  2026 年 5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9407A"/>
                </a:solidFill>
                <a:latin typeface="Arial"/>
              </a:rP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E1E1E"/>
                </a:solidFill>
                <a:latin typeface="Arial"/>
              </a:defRPr>
            </a:pPr>
            <a:r>
              <a:t>研究背景与问题</a:t>
            </a:r>
          </a:p>
          <a:p>
            <a:pPr>
              <a:defRPr sz="2400">
                <a:solidFill>
                  <a:srgbClr val="1E1E1E"/>
                </a:solidFill>
                <a:latin typeface="Arial"/>
              </a:defRPr>
            </a:pPr>
            <a:r>
              <a:t>方法概述</a:t>
            </a:r>
          </a:p>
          <a:p>
            <a:pPr>
              <a:defRPr sz="2400">
                <a:solidFill>
                  <a:srgbClr val="1E1E1E"/>
                </a:solidFill>
                <a:latin typeface="Arial"/>
              </a:defRPr>
            </a:pPr>
            <a:r>
              <a:t>关键技术</a:t>
            </a:r>
          </a:p>
          <a:p>
            <a:pPr>
              <a:defRPr sz="2400">
                <a:solidFill>
                  <a:srgbClr val="1E1E1E"/>
                </a:solidFill>
                <a:latin typeface="Arial"/>
              </a:defRPr>
            </a:pPr>
            <a:r>
              <a:t>实验设置</a:t>
            </a:r>
          </a:p>
          <a:p>
            <a:pPr>
              <a:defRPr sz="2400">
                <a:solidFill>
                  <a:srgbClr val="1E1E1E"/>
                </a:solidFill>
                <a:latin typeface="Arial"/>
              </a:defRPr>
            </a:pPr>
            <a:r>
              <a:t>实验结果</a:t>
            </a:r>
          </a:p>
          <a:p>
            <a:pPr>
              <a:defRPr sz="2400">
                <a:solidFill>
                  <a:srgbClr val="1E1E1E"/>
                </a:solidFill>
                <a:latin typeface="Arial"/>
              </a:defRPr>
            </a:pPr>
            <a:r>
              <a:t>结论与展望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  <a:latin typeface="Arial"/>
              </a:rPr>
              <a:t>答辩时间控制：8 分钟以内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9407A"/>
                </a:solidFill>
                <a:latin typeface="Arial"/>
              </a:rPr>
              <a:t>研究背景与问题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1E1E"/>
                </a:solidFill>
                <a:latin typeface="Arial"/>
              </a:defRPr>
            </a:pPr>
            <a:r>
              <a:t>多模态任务（检索/问答/推理）对计算效率要求高</a:t>
            </a:r>
          </a:p>
          <a:p>
            <a:pPr>
              <a:defRPr sz="2200">
                <a:solidFill>
                  <a:srgbClr val="1E1E1E"/>
                </a:solidFill>
                <a:latin typeface="Arial"/>
              </a:defRPr>
            </a:pPr>
            <a:r>
              <a:t>ViT 自注意力复杂度与 Token 数平方相关</a:t>
            </a:r>
          </a:p>
          <a:p>
            <a:pPr>
              <a:defRPr sz="2200">
                <a:solidFill>
                  <a:srgbClr val="1E1E1E"/>
                </a:solidFill>
                <a:latin typeface="Arial"/>
              </a:defRPr>
            </a:pPr>
            <a:r>
              <a:t>大模型推理成本高，端侧与多任务场景受限</a:t>
            </a:r>
          </a:p>
          <a:p>
            <a:pPr>
              <a:defRPr sz="2200">
                <a:solidFill>
                  <a:srgbClr val="1E1E1E"/>
                </a:solidFill>
                <a:latin typeface="Arial"/>
              </a:defRPr>
            </a:pPr>
            <a:r>
              <a:t>目标：在性能基本不损失的前提下实现推理加速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9407A"/>
                </a:solidFill>
                <a:latin typeface="Arial"/>
              </a:rPr>
              <a:t>方法概述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1E1E"/>
                </a:solidFill>
                <a:latin typeface="Arial"/>
              </a:defRPr>
            </a:pPr>
            <a:r>
              <a:t>基线模型：OpenCLIP 的 ViT-B/32 视觉编码器</a:t>
            </a:r>
          </a:p>
          <a:p>
            <a:pPr>
              <a:defRPr sz="2200">
                <a:solidFill>
                  <a:srgbClr val="1E1E1E"/>
                </a:solidFill>
                <a:latin typeface="Arial"/>
              </a:defRPr>
            </a:pPr>
            <a:r>
              <a:t>两阶段方案：启发式裁剪 + 可学习裁剪（gating head）</a:t>
            </a:r>
          </a:p>
          <a:p>
            <a:pPr>
              <a:defRPr sz="2200">
                <a:solidFill>
                  <a:srgbClr val="1E1E1E"/>
                </a:solidFill>
                <a:latin typeface="Arial"/>
              </a:defRPr>
            </a:pPr>
            <a:r>
              <a:t>训练阶段软裁剪，推理阶段硬裁剪</a:t>
            </a:r>
          </a:p>
          <a:p>
            <a:pPr>
              <a:defRPr sz="2200">
                <a:solidFill>
                  <a:srgbClr val="1E1E1E"/>
                </a:solidFill>
                <a:latin typeface="Arial"/>
              </a:defRPr>
            </a:pPr>
            <a:r>
              <a:t>跨任务评测：图文检索、视觉问答、图文推理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9407A"/>
                </a:solidFill>
                <a:latin typeface="Arial"/>
              </a:rPr>
              <a:t>关键技术：Token 重要性评估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1E1E"/>
                </a:solidFill>
                <a:latin typeface="Arial"/>
              </a:defRPr>
            </a:pPr>
            <a:r>
              <a:t>对比两类启发式评分：L2 范数 vs CLS 注意力</a:t>
            </a:r>
          </a:p>
          <a:p>
            <a:pPr>
              <a:defRPr sz="2200">
                <a:solidFill>
                  <a:srgbClr val="1E1E1E"/>
                </a:solidFill>
                <a:latin typeface="Arial"/>
              </a:defRPr>
            </a:pPr>
            <a:r>
              <a:t>CLS 注意力更贴合语义流动，可稳定保留关键区域</a:t>
            </a:r>
          </a:p>
          <a:p>
            <a:pPr>
              <a:defRPr sz="2200">
                <a:solidFill>
                  <a:srgbClr val="1E1E1E"/>
                </a:solidFill>
                <a:latin typeface="Arial"/>
              </a:defRPr>
            </a:pPr>
            <a:r>
              <a:t>支持裁剪层级与保留比例的网格搜索</a:t>
            </a:r>
          </a:p>
          <a:p>
            <a:pPr>
              <a:defRPr sz="2200">
                <a:solidFill>
                  <a:srgbClr val="1E1E1E"/>
                </a:solidFill>
                <a:latin typeface="Arial"/>
              </a:defRPr>
            </a:pPr>
            <a:r>
              <a:t>实现性能—效率的可控平衡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9407A"/>
                </a:solidFill>
                <a:latin typeface="Arial"/>
              </a:rPr>
              <a:t>关键技术：可学习 Gating 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1E1E"/>
                </a:solidFill>
                <a:latin typeface="Arial"/>
              </a:defRPr>
            </a:pPr>
            <a:r>
              <a:t>轻量评分分支，预测每个 Token 的动态重要性</a:t>
            </a:r>
          </a:p>
          <a:p>
            <a:pPr>
              <a:defRPr sz="2200">
                <a:solidFill>
                  <a:srgbClr val="1E1E1E"/>
                </a:solidFill>
                <a:latin typeface="Arial"/>
              </a:defRPr>
            </a:pPr>
            <a:r>
              <a:t>训练用软裁剪，推理用硬裁剪</a:t>
            </a:r>
          </a:p>
          <a:p>
            <a:pPr>
              <a:defRPr sz="2200">
                <a:solidFill>
                  <a:srgbClr val="1E1E1E"/>
                </a:solidFill>
                <a:latin typeface="Arial"/>
              </a:defRPr>
            </a:pPr>
            <a:r>
              <a:t>微调以适配裁剪后特征分布</a:t>
            </a:r>
          </a:p>
          <a:p>
            <a:pPr>
              <a:defRPr sz="2200">
                <a:solidFill>
                  <a:srgbClr val="1E1E1E"/>
                </a:solidFill>
                <a:latin typeface="Arial"/>
              </a:defRPr>
            </a:pPr>
            <a:r>
              <a:t>提升跨任务迁移与稳定性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9407A"/>
                </a:solidFill>
                <a:latin typeface="Arial"/>
              </a:rPr>
              <a:t>实验设置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1E1E"/>
                </a:solidFill>
                <a:latin typeface="Arial"/>
              </a:defRPr>
            </a:pPr>
            <a:r>
              <a:t>数据集：Flickr30k / ScienceQA / Winoground</a:t>
            </a:r>
          </a:p>
          <a:p>
            <a:pPr>
              <a:defRPr sz="2200">
                <a:solidFill>
                  <a:srgbClr val="1E1E1E"/>
                </a:solidFill>
                <a:latin typeface="Arial"/>
              </a:defRPr>
            </a:pPr>
            <a:r>
              <a:t>指标：Recall@K / Accuracy / 推理耗时 / speedup</a:t>
            </a:r>
          </a:p>
          <a:p>
            <a:pPr>
              <a:defRPr sz="2200">
                <a:solidFill>
                  <a:srgbClr val="1E1E1E"/>
                </a:solidFill>
                <a:latin typeface="Arial"/>
              </a:defRPr>
            </a:pPr>
            <a:r>
              <a:t>流程：基线评测 → 裁剪层与保留比例网格搜索</a:t>
            </a:r>
          </a:p>
          <a:p>
            <a:pPr>
              <a:defRPr sz="2200">
                <a:solidFill>
                  <a:srgbClr val="1E1E1E"/>
                </a:solidFill>
                <a:latin typeface="Arial"/>
              </a:defRPr>
            </a:pPr>
            <a:r>
              <a:t>多任务统一评测与对比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9407A"/>
                </a:solidFill>
                <a:latin typeface="Arial"/>
              </a:rPr>
              <a:t>实验结果：图文检索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1E1E"/>
                </a:solidFill>
                <a:latin typeface="Arial"/>
              </a:defRPr>
            </a:pPr>
            <a:r>
              <a:t>最佳配置：第 9 层保留 0.5</a:t>
            </a:r>
          </a:p>
          <a:p>
            <a:pPr>
              <a:defRPr sz="2200">
                <a:solidFill>
                  <a:srgbClr val="1E1E1E"/>
                </a:solidFill>
                <a:latin typeface="Arial"/>
              </a:defRPr>
            </a:pPr>
            <a:r>
              <a:t>R@1 下降 0.012，R@5/10 几乎不变</a:t>
            </a:r>
          </a:p>
          <a:p>
            <a:pPr>
              <a:defRPr sz="2200">
                <a:solidFill>
                  <a:srgbClr val="1E1E1E"/>
                </a:solidFill>
                <a:latin typeface="Arial"/>
              </a:defRPr>
            </a:pPr>
            <a:r>
              <a:t>Token 数量减半，推理显著加速</a:t>
            </a:r>
          </a:p>
          <a:p>
            <a:pPr>
              <a:defRPr sz="2200">
                <a:solidFill>
                  <a:srgbClr val="1E1E1E"/>
                </a:solidFill>
                <a:latin typeface="Arial"/>
              </a:defRPr>
            </a:pPr>
            <a:r>
              <a:t>CLS 注意力裁剪效果优于 L2 范数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9407A"/>
                </a:solidFill>
                <a:latin typeface="Arial"/>
              </a:rPr>
              <a:t>实验结果：问答与推理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1E1E"/>
                </a:solidFill>
                <a:latin typeface="Arial"/>
              </a:defRPr>
            </a:pPr>
            <a:r>
              <a:t>ScienceQA：精度不降，speedup ~1.5×</a:t>
            </a:r>
          </a:p>
          <a:p>
            <a:pPr>
              <a:defRPr sz="2200">
                <a:solidFill>
                  <a:srgbClr val="1E1E1E"/>
                </a:solidFill>
                <a:latin typeface="Arial"/>
              </a:defRPr>
            </a:pPr>
            <a:r>
              <a:t>Winoground：任务更敏感，浅层保守裁剪更稳定</a:t>
            </a:r>
          </a:p>
          <a:p>
            <a:pPr>
              <a:defRPr sz="2200">
                <a:solidFill>
                  <a:srgbClr val="1E1E1E"/>
                </a:solidFill>
                <a:latin typeface="Arial"/>
              </a:defRPr>
            </a:pPr>
            <a:r>
              <a:t>三任务均实现性能与效率的可接受折中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9407A"/>
                </a:solidFill>
                <a:latin typeface="Arial"/>
              </a:rPr>
              <a:t>结论与展望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1E1E"/>
                </a:solidFill>
                <a:latin typeface="Arial"/>
              </a:defRPr>
            </a:pPr>
            <a:r>
              <a:t>CLS 注意力裁剪稳定有效，兼顾性能与速度</a:t>
            </a:r>
          </a:p>
          <a:p>
            <a:pPr>
              <a:defRPr sz="2200">
                <a:solidFill>
                  <a:srgbClr val="1E1E1E"/>
                </a:solidFill>
                <a:latin typeface="Arial"/>
              </a:defRPr>
            </a:pPr>
            <a:r>
              <a:t>Gating Head 提升跨任务适配与稳定性</a:t>
            </a:r>
          </a:p>
          <a:p>
            <a:pPr>
              <a:defRPr sz="2200">
                <a:solidFill>
                  <a:srgbClr val="1E1E1E"/>
                </a:solidFill>
                <a:latin typeface="Arial"/>
              </a:defRPr>
            </a:pPr>
            <a:r>
              <a:t>形成可迁移的 ViT 轻量化裁剪框架</a:t>
            </a:r>
          </a:p>
          <a:p>
            <a:pPr>
              <a:defRPr sz="2200">
                <a:solidFill>
                  <a:srgbClr val="1E1E1E"/>
                </a:solidFill>
                <a:latin typeface="Arial"/>
              </a:defRPr>
            </a:pPr>
            <a:r>
              <a:t>展望：端侧部署、能耗评估、多层联动裁剪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